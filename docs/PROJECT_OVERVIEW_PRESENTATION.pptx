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HỆ THỐNG QUẢN LÝ CHI PHÍ</a:t>
            </a:r>
            <a:br/>
            <a:r>
              <a:t>&amp; CHẤT LƯỢNG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BEAFE"/>
                </a:solidFill>
              </a:defRPr>
            </a:pPr>
            <a:r>
              <a:t>Báo cáo Tổng quan Chức năng | Tháng 01/2026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📋 NỘI DUNG TRÌNH BÀY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Mục tiêu và vấn đề cần giải quyết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Các chức năng đã hoàn thành (15+ modules)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Chỉ số EVM - Dự báo chi phí dự án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Giá trị kinh doanh &amp; ROI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Hướng phát triển tiếp theo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VẤN ĐỀ HIỆN TẠI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B7280"/>
                </a:solidFill>
              </a:defRPr>
            </a:pPr>
            <a:r>
              <a:t>Những khó khăn trong quản lý dự án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⚠️ VẤN ĐỀ &amp; GIẢI PHÁP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729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Vấn đề hiện tại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Giải pháp của hệ thống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Không biết dự án đang tốn bao nhiêu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Dashboard hiển thị chi phí real-time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Không dự báo được tổng chi phí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Hệ thống tự tính EAC (Estimate at Completion)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Phát hiện vấn đề khi đã quá muộn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Cảnh báo tự động: Tốt / Cảnh báo / Rủi ro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Quyết định dựa trên cảm tính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Số liệu và biểu đồ trực quan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Mất nhiều thời gian làm báo cáo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Báo cáo tự động trong vài giây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CÁC CHỨC NĂNG ĐÃ HOÀN THÀNH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B7280"/>
                </a:solidFill>
              </a:defRPr>
            </a:pPr>
            <a:r>
              <a:t>15+ modules hoạt động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🔧 TỔNG QUAN CHỨC NĂNG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729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Mô tả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Lợi ích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Tổng quan tất cả dự án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Nắm bắt tình hình trong 30 giây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Quản lý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Chia dự án thành giai đoạn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Phát hiện sớm vấn đề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Screen/Function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Theo dõi từng chức năng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Không bỏ sót công việc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Nhân sự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Quản lý team &amp; phân công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Phân bổ nguồn lực hợp lý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Effort Tracking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Ghi nhận công sức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Số liệu minh bạch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Testing/QA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Theo dõi chất lượng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Đảm bảo quality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🔧 TỔNG QUAN CHỨC NĂNG (tiếp)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729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Mô tả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Lợi ích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Báo cáo tự động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Tuần / Phase / Project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Tiết kiệm hàng giờ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Chỉ số EVM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SPI, CPI, EAC, VAC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Dự báo chi phí chính xác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Biểu đồ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6+ loại charts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Trực quan dễ hiểu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Năng suất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Phân tích theo người/vai trò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So sánh hiệu suất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Cấu hình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Ngày lễ, giờ làm việc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Linh hoạt theo công ty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CHỈ SỐ EVM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B7280"/>
                </a:solidFill>
              </a:defRPr>
            </a:pPr>
            <a:r>
              <a:t>Earned Value Management - Chuẩn quốc tế PMI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CÁC CHỈ SỐ EVM CƠ BẢN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BAC (Budget at Completion)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100 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Tổng ngân sách dự kiến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6304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PV (Planned Value)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</a:defRPr>
            </a:pPr>
            <a:r>
              <a:t>60 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Giá trị kế hoạch đến nay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46304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EV (Earned Value)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C55E"/>
                </a:solidFill>
              </a:defRPr>
            </a:pPr>
            <a:r>
              <a:t>50 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8346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Giá trị thực tế hoàn thành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4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AC (Actual Cost)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B308"/>
                </a:solidFill>
              </a:defRPr>
            </a:pPr>
            <a:r>
              <a:t>55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Chi phí thực tế đã bỏ 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74904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931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SPI = EV/PV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2976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4444"/>
                </a:solidFill>
              </a:defRPr>
            </a:pPr>
            <a:r>
              <a:t>0.83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1206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Chậm 17% so với kế hoạch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374904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3931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CPI = EV/AC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2976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B308"/>
                </a:solidFill>
              </a:defRPr>
            </a:pPr>
            <a:r>
              <a:t>0.91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1206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Vượt 9% ngân sách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DỰ BÁO CHI PHÍ - "Cuối cùng tốn bao nhiêu?"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EAC (Estimate at Completion)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4444"/>
                </a:solidFill>
              </a:defRPr>
            </a:pPr>
            <a:r>
              <a:t>110 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Dự kiến tổng chi phí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6304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VAC (Variance at Completion)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4444"/>
                </a:solidFill>
              </a:defRPr>
            </a:pPr>
            <a:r>
              <a:t>-10 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Vượt 10 MM so với budget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46304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TCPI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B308"/>
                </a:solidFill>
              </a:defRPr>
            </a:pPr>
            <a:r>
              <a:t>1.11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8346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Cần tăng 11% hiệu suất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4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Tiến độ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Đã hoàn thành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74904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931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Budget còn lại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2976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</a:defRPr>
            </a:pPr>
            <a:r>
              <a:t>45 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1206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Để hoàn thành 50% còn lại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374904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3931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Trạng thái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2976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B308"/>
                </a:solidFill>
              </a:defRPr>
            </a:pPr>
            <a:r>
              <a:t>Cảnh báo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1206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Cần review kế hoạch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🚦 Ý NGHĨA TRẠNG THÁI DỰ ÁN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729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Trạng thái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Điều kiện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Hành động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🟢 GOOD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CPI ≥ 1.0, Pass Rate ≥ 95%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Tiếp tục theo dõi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🟡 WARNING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CPI 0.83-1.0 hoặc Pass Rate 80-95%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Review kế hoạch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🔴 AT RISK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CPI &lt; 0.83 hoặc Pass Rate &lt; 80%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Can thiệp ngay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GIÁ TRỊ KINH DOANH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B7280"/>
                </a:solidFill>
              </a:defRPr>
            </a:pPr>
            <a:r>
              <a:t>ROI và lợi ích đạt được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⏱️ TIẾT KIỆM THỜI GIAN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729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3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Công việc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Trước đây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Với hệ thống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Tiết kiệm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Tổng hợp báo cáo tuần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2-4 giờ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 phút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~95%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Kiểm tra tình trạng dự 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Họp 1 giờ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30 giây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~99%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Tính dự báo ngân sách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Nửa ngày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Tự động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Setup dự án mới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1-2 ngày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30 phút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~90%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💰 ROI ƯỚC TÍNH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5 PM sử dụng hệ thống × 4 giờ tiết kiệm/tuần = 20 giờ/tuần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20 giờ × 4 tuần × 12 tháng = 960 giờ/năm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Quy đổi: ~5.5 man-month/năm tiết kiệm được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GIÁ TRỊ KHÁC (khó đo lường):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• Phát hiện sớm dự án có vấn đề → Tiết kiệm chi phí sửa chữa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• Báo cáo chuyên nghiệp → Tăng độ tin cậy với khách hàng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• Dữ liệu lịch sử → Cải thiện ước lượng dự án tương lai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🛡️ GIẢM THIỂU RỦI RO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729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Rủi ro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Cách hệ thống giúp giảm thiểu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Vượt ngân sách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Cảnh báo sớm khi CPI &lt; 1.0, dự báo EAC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Trễ 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Theo dõi SPI, delay rate, cảnh báo khi chậm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Chất lượng kém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Theo dõi pass rate, defect density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Thiếu minh bạch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Dữ liệu real-time, báo cáo tự động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Quyết định sai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Ra quyết định dựa trên dữ liệu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B7280"/>
                </a:solidFill>
              </a:defRPr>
            </a:pPr>
            <a:r>
              <a:t>Giai đoạn tiếp theo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🚀 ĐỀ XUẤT PHÁT TRIỂN GIAI ĐOẠN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729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Tính năng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Giá trị kỳ vọng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Ưu tiên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Tích hợp Jira/Azure DevOps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Đồng bộ dữ liệu tự động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Cao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Dashboard cho khách hàng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Khách tự theo dõi, tăng tin cậy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Cao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Xuất PDF/Excel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Gửi báo cáo cho stakeholders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Trung bình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Xem báo cáo mọi lúc mọi nơi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Trung bình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So sánh nhiều dự án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Benchmark hiệu suất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Thấp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TÓM TẮT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NHỮNG GÌ ĐÃ HOÀN THÀNH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Modules chức năng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C55E"/>
                </a:solidFill>
              </a:defRPr>
            </a:pPr>
            <a:r>
              <a:t>15+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Đã hoạt động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6304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API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60+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Backend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46304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Màn hình giao diện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</a:defRPr>
            </a:pPr>
            <a:r>
              <a:t>10+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8346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Frontend screens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4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Loại biểu đồ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Charts &amp; Graphs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74904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931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Loại báo cáo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2976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1206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Tuần/Phase/Project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3749040"/>
            <a:ext cx="347472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3931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Tự động hóa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2976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C55E"/>
                </a:solidFill>
              </a:defRPr>
            </a:pPr>
            <a:r>
              <a:t>80%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1206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Công việc báo cáo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2286000"/>
            <a:ext cx="137160" cy="2286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962FF"/>
                </a:solidFill>
              </a:defRPr>
            </a:pPr>
            <a:r>
              <a:t>THÔNG ĐIỆP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i="1">
                <a:solidFill>
                  <a:srgbClr val="1F2937"/>
                </a:solidFill>
              </a:defRPr>
            </a:pPr>
            <a:r>
              <a:t>"Hệ thống không chỉ THEO DÕI dự án - mà còn DỰ BÁO và CẢNH BÁO SỚM để ban lãnh đạo có thể HÀNH ĐỘNG kịp thời, tiết kiệm chi phí và giảm rủi ro."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Áp dụng chuẩn EVM quốc tế | Tự động hóa 80% báo cáo | Trực quan hóa dữ liệu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CẢM ƠN QUÝ VỊ</a:t>
            </a:r>
            <a:br/>
            <a:r>
              <a:t>ĐÃ LẮNG NGHE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BEAFE"/>
                </a:solidFill>
              </a:defRPr>
            </a:pPr>
            <a:r>
              <a:t>Sẵn sàng giải đáp thắc mắc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